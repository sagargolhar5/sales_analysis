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303" r:id="rId6"/>
    <p:sldId id="302" r:id="rId7"/>
    <p:sldId id="260" r:id="rId8"/>
    <p:sldId id="304" r:id="rId9"/>
    <p:sldId id="305" r:id="rId10"/>
    <p:sldId id="306" r:id="rId11"/>
    <p:sldId id="295" r:id="rId12"/>
    <p:sldId id="296" r:id="rId13"/>
    <p:sldId id="297" r:id="rId14"/>
    <p:sldId id="298" r:id="rId15"/>
    <p:sldId id="299" r:id="rId16"/>
    <p:sldId id="300" r:id="rId17"/>
    <p:sldId id="30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727352-446E-4BD4-8FD5-092D4B9697D7}" v="103" dt="2024-12-03T10:02:12.0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832C57-009B-4FDC-898B-9A19599B81A1}"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5BDCFD-4F8E-4581-B713-19F9827C54F8}" type="slidenum">
              <a:rPr lang="en-IN" smtClean="0"/>
              <a:t>‹#›</a:t>
            </a:fld>
            <a:endParaRPr lang="en-IN"/>
          </a:p>
        </p:txBody>
      </p:sp>
    </p:spTree>
    <p:extLst>
      <p:ext uri="{BB962C8B-B14F-4D97-AF65-F5344CB8AC3E}">
        <p14:creationId xmlns:p14="http://schemas.microsoft.com/office/powerpoint/2010/main" val="1179009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832C57-009B-4FDC-898B-9A19599B81A1}"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5BDCFD-4F8E-4581-B713-19F9827C54F8}" type="slidenum">
              <a:rPr lang="en-IN" smtClean="0"/>
              <a:t>‹#›</a:t>
            </a:fld>
            <a:endParaRPr lang="en-IN"/>
          </a:p>
        </p:txBody>
      </p:sp>
    </p:spTree>
    <p:extLst>
      <p:ext uri="{BB962C8B-B14F-4D97-AF65-F5344CB8AC3E}">
        <p14:creationId xmlns:p14="http://schemas.microsoft.com/office/powerpoint/2010/main" val="2530751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832C57-009B-4FDC-898B-9A19599B81A1}"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5BDCFD-4F8E-4581-B713-19F9827C54F8}" type="slidenum">
              <a:rPr lang="en-IN" smtClean="0"/>
              <a:t>‹#›</a:t>
            </a:fld>
            <a:endParaRPr lang="en-IN"/>
          </a:p>
        </p:txBody>
      </p:sp>
    </p:spTree>
    <p:extLst>
      <p:ext uri="{BB962C8B-B14F-4D97-AF65-F5344CB8AC3E}">
        <p14:creationId xmlns:p14="http://schemas.microsoft.com/office/powerpoint/2010/main" val="2968557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832C57-009B-4FDC-898B-9A19599B81A1}" type="datetimeFigureOut">
              <a:rPr lang="en-IN" smtClean="0"/>
              <a:t>12-05-2026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5BDCFD-4F8E-4581-B713-19F9827C54F8}" type="slidenum">
              <a:rPr lang="en-IN" smtClean="0"/>
              <a:t>‹#›</a:t>
            </a:fld>
            <a:endParaRPr lang="en-IN"/>
          </a:p>
        </p:txBody>
      </p:sp>
    </p:spTree>
    <p:extLst>
      <p:ext uri="{BB962C8B-B14F-4D97-AF65-F5344CB8AC3E}">
        <p14:creationId xmlns:p14="http://schemas.microsoft.com/office/powerpoint/2010/main" val="3732923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832C57-009B-4FDC-898B-9A19599B81A1}" type="datetimeFigureOut">
              <a:rPr lang="en-IN" smtClean="0"/>
              <a:t>12-05-2026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35BDCFD-4F8E-4581-B713-19F9827C54F8}" type="slidenum">
              <a:rPr lang="en-IN" smtClean="0"/>
              <a:t>‹#›</a:t>
            </a:fld>
            <a:endParaRPr lang="en-IN"/>
          </a:p>
        </p:txBody>
      </p:sp>
    </p:spTree>
    <p:extLst>
      <p:ext uri="{BB962C8B-B14F-4D97-AF65-F5344CB8AC3E}">
        <p14:creationId xmlns:p14="http://schemas.microsoft.com/office/powerpoint/2010/main" val="381372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832C57-009B-4FDC-898B-9A19599B81A1}" type="datetimeFigureOut">
              <a:rPr lang="en-IN" smtClean="0"/>
              <a:t>12-05-2026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35BDCFD-4F8E-4581-B713-19F9827C54F8}" type="slidenum">
              <a:rPr lang="en-IN" smtClean="0"/>
              <a:t>‹#›</a:t>
            </a:fld>
            <a:endParaRPr lang="en-IN"/>
          </a:p>
        </p:txBody>
      </p:sp>
    </p:spTree>
    <p:extLst>
      <p:ext uri="{BB962C8B-B14F-4D97-AF65-F5344CB8AC3E}">
        <p14:creationId xmlns:p14="http://schemas.microsoft.com/office/powerpoint/2010/main" val="863352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832C57-009B-4FDC-898B-9A19599B81A1}" type="datetimeFigureOut">
              <a:rPr lang="en-IN" smtClean="0"/>
              <a:t>12-05-2026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35BDCFD-4F8E-4581-B713-19F9827C54F8}" type="slidenum">
              <a:rPr lang="en-IN" smtClean="0"/>
              <a:t>‹#›</a:t>
            </a:fld>
            <a:endParaRPr lang="en-IN"/>
          </a:p>
        </p:txBody>
      </p:sp>
    </p:spTree>
    <p:extLst>
      <p:ext uri="{BB962C8B-B14F-4D97-AF65-F5344CB8AC3E}">
        <p14:creationId xmlns:p14="http://schemas.microsoft.com/office/powerpoint/2010/main" val="3598225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832C57-009B-4FDC-898B-9A19599B81A1}" type="datetimeFigureOut">
              <a:rPr lang="en-IN" smtClean="0"/>
              <a:t>12-05-2026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5BDCFD-4F8E-4581-B713-19F9827C54F8}" type="slidenum">
              <a:rPr lang="en-IN" smtClean="0"/>
              <a:t>‹#›</a:t>
            </a:fld>
            <a:endParaRPr lang="en-IN"/>
          </a:p>
        </p:txBody>
      </p:sp>
    </p:spTree>
    <p:extLst>
      <p:ext uri="{BB962C8B-B14F-4D97-AF65-F5344CB8AC3E}">
        <p14:creationId xmlns:p14="http://schemas.microsoft.com/office/powerpoint/2010/main" val="3744135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832C57-009B-4FDC-898B-9A19599B81A1}" type="datetimeFigureOut">
              <a:rPr lang="en-IN" smtClean="0"/>
              <a:t>12-05-2026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5BDCFD-4F8E-4581-B713-19F9827C54F8}" type="slidenum">
              <a:rPr lang="en-IN" smtClean="0"/>
              <a:t>‹#›</a:t>
            </a:fld>
            <a:endParaRPr lang="en-IN"/>
          </a:p>
        </p:txBody>
      </p:sp>
    </p:spTree>
    <p:extLst>
      <p:ext uri="{BB962C8B-B14F-4D97-AF65-F5344CB8AC3E}">
        <p14:creationId xmlns:p14="http://schemas.microsoft.com/office/powerpoint/2010/main" val="2828133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832C57-009B-4FDC-898B-9A19599B81A1}"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5BDCFD-4F8E-4581-B713-19F9827C54F8}" type="slidenum">
              <a:rPr lang="en-IN" smtClean="0"/>
              <a:t>‹#›</a:t>
            </a:fld>
            <a:endParaRPr lang="en-IN"/>
          </a:p>
        </p:txBody>
      </p:sp>
    </p:spTree>
    <p:extLst>
      <p:ext uri="{BB962C8B-B14F-4D97-AF65-F5344CB8AC3E}">
        <p14:creationId xmlns:p14="http://schemas.microsoft.com/office/powerpoint/2010/main" val="2905347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832C57-009B-4FDC-898B-9A19599B81A1}"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5BDCFD-4F8E-4581-B713-19F9827C54F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940797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832C57-009B-4FDC-898B-9A19599B81A1}"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5BDCFD-4F8E-4581-B713-19F9827C54F8}" type="slidenum">
              <a:rPr lang="en-IN" smtClean="0"/>
              <a:t>‹#›</a:t>
            </a:fld>
            <a:endParaRPr lang="en-IN"/>
          </a:p>
        </p:txBody>
      </p:sp>
    </p:spTree>
    <p:extLst>
      <p:ext uri="{BB962C8B-B14F-4D97-AF65-F5344CB8AC3E}">
        <p14:creationId xmlns:p14="http://schemas.microsoft.com/office/powerpoint/2010/main" val="1083464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832C57-009B-4FDC-898B-9A19599B81A1}"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5BDCFD-4F8E-4581-B713-19F9827C54F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717856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832C57-009B-4FDC-898B-9A19599B81A1}"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5BDCFD-4F8E-4581-B713-19F9827C54F8}" type="slidenum">
              <a:rPr lang="en-IN" smtClean="0"/>
              <a:t>‹#›</a:t>
            </a:fld>
            <a:endParaRPr lang="en-IN"/>
          </a:p>
        </p:txBody>
      </p:sp>
    </p:spTree>
    <p:extLst>
      <p:ext uri="{BB962C8B-B14F-4D97-AF65-F5344CB8AC3E}">
        <p14:creationId xmlns:p14="http://schemas.microsoft.com/office/powerpoint/2010/main" val="5858871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832C57-009B-4FDC-898B-9A19599B81A1}"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5BDCFD-4F8E-4581-B713-19F9827C54F8}" type="slidenum">
              <a:rPr lang="en-IN" smtClean="0"/>
              <a:t>‹#›</a:t>
            </a:fld>
            <a:endParaRPr lang="en-IN"/>
          </a:p>
        </p:txBody>
      </p:sp>
    </p:spTree>
    <p:extLst>
      <p:ext uri="{BB962C8B-B14F-4D97-AF65-F5344CB8AC3E}">
        <p14:creationId xmlns:p14="http://schemas.microsoft.com/office/powerpoint/2010/main" val="648131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832C57-009B-4FDC-898B-9A19599B81A1}"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5BDCFD-4F8E-4581-B713-19F9827C54F8}" type="slidenum">
              <a:rPr lang="en-IN" smtClean="0"/>
              <a:t>‹#›</a:t>
            </a:fld>
            <a:endParaRPr lang="en-IN"/>
          </a:p>
        </p:txBody>
      </p:sp>
    </p:spTree>
    <p:extLst>
      <p:ext uri="{BB962C8B-B14F-4D97-AF65-F5344CB8AC3E}">
        <p14:creationId xmlns:p14="http://schemas.microsoft.com/office/powerpoint/2010/main" val="3129622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E832C57-009B-4FDC-898B-9A19599B81A1}" type="datetimeFigureOut">
              <a:rPr lang="en-IN" smtClean="0"/>
              <a:t>12-05-2026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35BDCFD-4F8E-4581-B713-19F9827C54F8}" type="slidenum">
              <a:rPr lang="en-IN" smtClean="0"/>
              <a:t>‹#›</a:t>
            </a:fld>
            <a:endParaRPr lang="en-IN"/>
          </a:p>
        </p:txBody>
      </p:sp>
    </p:spTree>
    <p:extLst>
      <p:ext uri="{BB962C8B-B14F-4D97-AF65-F5344CB8AC3E}">
        <p14:creationId xmlns:p14="http://schemas.microsoft.com/office/powerpoint/2010/main" val="42375548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E794-3AFF-44DC-F92E-3DCDD2F0F7F0}"/>
              </a:ext>
            </a:extLst>
          </p:cNvPr>
          <p:cNvSpPr>
            <a:spLocks noGrp="1"/>
          </p:cNvSpPr>
          <p:nvPr>
            <p:ph type="ctrTitle"/>
          </p:nvPr>
        </p:nvSpPr>
        <p:spPr>
          <a:xfrm>
            <a:off x="1524000" y="373627"/>
            <a:ext cx="9144000" cy="1226573"/>
          </a:xfrm>
        </p:spPr>
        <p:txBody>
          <a:bodyPr/>
          <a:lstStyle/>
          <a:p>
            <a:pPr algn="ctr"/>
            <a:r>
              <a:rPr lang="en-IN" b="1" i="1" dirty="0">
                <a:latin typeface="Times New Roman" panose="02020603050405020304" pitchFamily="18" charset="0"/>
                <a:cs typeface="Times New Roman" panose="02020603050405020304" pitchFamily="18" charset="0"/>
              </a:rPr>
              <a:t>Sales Analytics  </a:t>
            </a:r>
          </a:p>
        </p:txBody>
      </p:sp>
    </p:spTree>
    <p:extLst>
      <p:ext uri="{BB962C8B-B14F-4D97-AF65-F5344CB8AC3E}">
        <p14:creationId xmlns:p14="http://schemas.microsoft.com/office/powerpoint/2010/main" val="779440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8E37F99-6738-81E6-8564-8FE9023F4101}"/>
              </a:ext>
            </a:extLst>
          </p:cNvPr>
          <p:cNvSpPr txBox="1">
            <a:spLocks/>
          </p:cNvSpPr>
          <p:nvPr/>
        </p:nvSpPr>
        <p:spPr>
          <a:xfrm>
            <a:off x="1349475" y="455715"/>
            <a:ext cx="4055806" cy="5752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2" name="Subtitle 2">
            <a:extLst>
              <a:ext uri="{FF2B5EF4-FFF2-40B4-BE49-F238E27FC236}">
                <a16:creationId xmlns:a16="http://schemas.microsoft.com/office/drawing/2014/main" id="{4816EDA5-B248-1304-BE2C-2C063F32D2E6}"/>
              </a:ext>
            </a:extLst>
          </p:cNvPr>
          <p:cNvSpPr txBox="1">
            <a:spLocks/>
          </p:cNvSpPr>
          <p:nvPr/>
        </p:nvSpPr>
        <p:spPr>
          <a:xfrm>
            <a:off x="211393" y="4753410"/>
            <a:ext cx="3923071" cy="5078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4" name="Subtitle 2">
            <a:extLst>
              <a:ext uri="{FF2B5EF4-FFF2-40B4-BE49-F238E27FC236}">
                <a16:creationId xmlns:a16="http://schemas.microsoft.com/office/drawing/2014/main" id="{6812FE7A-A47D-BB09-BADB-91B1A6173E86}"/>
              </a:ext>
            </a:extLst>
          </p:cNvPr>
          <p:cNvSpPr txBox="1">
            <a:spLocks/>
          </p:cNvSpPr>
          <p:nvPr/>
        </p:nvSpPr>
        <p:spPr>
          <a:xfrm>
            <a:off x="4060723" y="201792"/>
            <a:ext cx="7993625" cy="5078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5" name="Subtitle 2">
            <a:extLst>
              <a:ext uri="{FF2B5EF4-FFF2-40B4-BE49-F238E27FC236}">
                <a16:creationId xmlns:a16="http://schemas.microsoft.com/office/drawing/2014/main" id="{7DABDD8F-713F-EDAF-04BE-E5CCB11C9D82}"/>
              </a:ext>
            </a:extLst>
          </p:cNvPr>
          <p:cNvSpPr txBox="1">
            <a:spLocks/>
          </p:cNvSpPr>
          <p:nvPr/>
        </p:nvSpPr>
        <p:spPr>
          <a:xfrm>
            <a:off x="3947651" y="2439861"/>
            <a:ext cx="3923071" cy="5078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6" name="Subtitle 2">
            <a:extLst>
              <a:ext uri="{FF2B5EF4-FFF2-40B4-BE49-F238E27FC236}">
                <a16:creationId xmlns:a16="http://schemas.microsoft.com/office/drawing/2014/main" id="{986ADAA5-21FC-F997-16CF-13C9026D7680}"/>
              </a:ext>
            </a:extLst>
          </p:cNvPr>
          <p:cNvSpPr txBox="1">
            <a:spLocks/>
          </p:cNvSpPr>
          <p:nvPr/>
        </p:nvSpPr>
        <p:spPr>
          <a:xfrm>
            <a:off x="4134464" y="1479732"/>
            <a:ext cx="2443315" cy="62485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t> </a:t>
            </a:r>
          </a:p>
          <a:p>
            <a:endParaRPr lang="en-IN" dirty="0"/>
          </a:p>
        </p:txBody>
      </p:sp>
      <p:sp>
        <p:nvSpPr>
          <p:cNvPr id="7" name="Subtitle 2">
            <a:extLst>
              <a:ext uri="{FF2B5EF4-FFF2-40B4-BE49-F238E27FC236}">
                <a16:creationId xmlns:a16="http://schemas.microsoft.com/office/drawing/2014/main" id="{C41FBC86-7E2B-80D0-E74C-E42D6FBDB65E}"/>
              </a:ext>
            </a:extLst>
          </p:cNvPr>
          <p:cNvSpPr txBox="1">
            <a:spLocks/>
          </p:cNvSpPr>
          <p:nvPr/>
        </p:nvSpPr>
        <p:spPr>
          <a:xfrm>
            <a:off x="4144295" y="2036739"/>
            <a:ext cx="2443315" cy="62485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8" name="Subtitle 2">
            <a:extLst>
              <a:ext uri="{FF2B5EF4-FFF2-40B4-BE49-F238E27FC236}">
                <a16:creationId xmlns:a16="http://schemas.microsoft.com/office/drawing/2014/main" id="{93002DB0-9AE7-20C4-CE07-2DCB5D36542A}"/>
              </a:ext>
            </a:extLst>
          </p:cNvPr>
          <p:cNvSpPr txBox="1">
            <a:spLocks/>
          </p:cNvSpPr>
          <p:nvPr/>
        </p:nvSpPr>
        <p:spPr>
          <a:xfrm>
            <a:off x="4183624" y="2608958"/>
            <a:ext cx="2443315" cy="62485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11" name="TextBox 10">
            <a:extLst>
              <a:ext uri="{FF2B5EF4-FFF2-40B4-BE49-F238E27FC236}">
                <a16:creationId xmlns:a16="http://schemas.microsoft.com/office/drawing/2014/main" id="{66C73A00-11DB-6EF4-D229-E5DB345FAC55}"/>
              </a:ext>
            </a:extLst>
          </p:cNvPr>
          <p:cNvSpPr txBox="1"/>
          <p:nvPr/>
        </p:nvSpPr>
        <p:spPr>
          <a:xfrm>
            <a:off x="953729" y="791184"/>
            <a:ext cx="9075174" cy="4708340"/>
          </a:xfrm>
          <a:prstGeom prst="rect">
            <a:avLst/>
          </a:prstGeom>
          <a:noFill/>
        </p:spPr>
        <p:txBody>
          <a:bodyPr wrap="square">
            <a:spAutoFit/>
          </a:bodyPr>
          <a:lstStyle/>
          <a:p>
            <a:pPr marL="342900" lvl="0" indent="-342900">
              <a:lnSpc>
                <a:spcPct val="107000"/>
              </a:lnSpc>
              <a:buSzPts val="1400"/>
              <a:buFont typeface="Symbol" panose="05050102010706020507" pitchFamily="18" charset="2"/>
              <a:buChar char=""/>
            </a:pP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Introduction </a:t>
            </a: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Sales Analytics is the process of collecting, analyzing, and interpreting sales data to gain meaningful business insights and support data-driven decision-making. It helps organizations understand sales performance, customer behavior, product demand, market trends, and revenue patterns.</a:t>
            </a:r>
          </a:p>
          <a:p>
            <a:pPr lvl="1"/>
            <a:r>
              <a:rPr lang="en-US" dirty="0">
                <a:latin typeface="Times New Roman" panose="02020603050405020304" pitchFamily="18" charset="0"/>
                <a:cs typeface="Times New Roman" panose="02020603050405020304" pitchFamily="18" charset="0"/>
              </a:rPr>
              <a:t>By using analytical tools and visualization platforms such as Microsoft Power BI, businesses can transform raw sales data into interactive dashboards and reports that provide real-time insights into key performance indicators (KPIs). Sales analytics enables organizations to identify top-performing products, profitable customer segments, regional sales trends, and operational inefficiencies.</a:t>
            </a:r>
          </a:p>
          <a:p>
            <a:pPr lvl="1"/>
            <a:r>
              <a:rPr lang="en-US" dirty="0">
                <a:latin typeface="Times New Roman" panose="02020603050405020304" pitchFamily="18" charset="0"/>
                <a:cs typeface="Times New Roman" panose="02020603050405020304" pitchFamily="18" charset="0"/>
              </a:rPr>
              <a:t>The primary objective of sales analytics is to improve business performance by optimizing sales strategies, forecasting future demand, enhancing customer satisfaction, and increasing overall profitability. Through the use of charts, graphs, and statistical analysis, companies can monitor metrics such as total sales, sales growth, order value distribution, shipping performance, employee productivity, supplier contribution, and product category performance.</a:t>
            </a:r>
          </a:p>
        </p:txBody>
      </p:sp>
    </p:spTree>
    <p:extLst>
      <p:ext uri="{BB962C8B-B14F-4D97-AF65-F5344CB8AC3E}">
        <p14:creationId xmlns:p14="http://schemas.microsoft.com/office/powerpoint/2010/main" val="1717805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784CC4AB-96CD-D6BC-A4CA-B561D32F6122}"/>
              </a:ext>
            </a:extLst>
          </p:cNvPr>
          <p:cNvSpPr>
            <a:spLocks noChangeArrowheads="1"/>
          </p:cNvSpPr>
          <p:nvPr/>
        </p:nvSpPr>
        <p:spPr bwMode="auto">
          <a:xfrm>
            <a:off x="3077497" y="664259"/>
            <a:ext cx="676459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IN" sz="2400" b="1" dirty="0">
                <a:latin typeface="Times New Roman" panose="02020603050405020304" pitchFamily="18" charset="0"/>
                <a:cs typeface="Times New Roman" panose="02020603050405020304" pitchFamily="18" charset="0"/>
              </a:rPr>
              <a:t>Problem Statement / Business Objective</a:t>
            </a:r>
            <a:r>
              <a:rPr kumimoji="0" lang="en-US" altLang="ja-JP" sz="2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ja-JP" sz="1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ja-JP" sz="1800" b="0" i="0" u="none" strike="noStrike" cap="none" normalizeH="0" baseline="0" dirty="0">
              <a:ln>
                <a:noFill/>
              </a:ln>
              <a:solidFill>
                <a:schemeClr val="tx1"/>
              </a:solidFill>
              <a:effectLst/>
              <a:latin typeface="Arial" panose="020B0604020202020204" pitchFamily="34" charset="0"/>
            </a:endParaRPr>
          </a:p>
        </p:txBody>
      </p:sp>
      <p:sp>
        <p:nvSpPr>
          <p:cNvPr id="6" name="Rectangle 6">
            <a:extLst>
              <a:ext uri="{FF2B5EF4-FFF2-40B4-BE49-F238E27FC236}">
                <a16:creationId xmlns:a16="http://schemas.microsoft.com/office/drawing/2014/main" id="{5D7AA791-2DAC-26D3-537D-7BEF49A2C519}"/>
              </a:ext>
            </a:extLst>
          </p:cNvPr>
          <p:cNvSpPr>
            <a:spLocks noChangeArrowheads="1"/>
          </p:cNvSpPr>
          <p:nvPr/>
        </p:nvSpPr>
        <p:spPr bwMode="auto">
          <a:xfrm>
            <a:off x="2627643" y="2119767"/>
            <a:ext cx="174241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2" name="TextBox 1">
            <a:extLst>
              <a:ext uri="{FF2B5EF4-FFF2-40B4-BE49-F238E27FC236}">
                <a16:creationId xmlns:a16="http://schemas.microsoft.com/office/drawing/2014/main" id="{D8E8774D-4DF6-A258-6124-0EECA20A1E1D}"/>
              </a:ext>
            </a:extLst>
          </p:cNvPr>
          <p:cNvSpPr txBox="1"/>
          <p:nvPr/>
        </p:nvSpPr>
        <p:spPr>
          <a:xfrm>
            <a:off x="973395" y="1334097"/>
            <a:ext cx="9901082" cy="1738938"/>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Problem Statement :-</a:t>
            </a:r>
          </a:p>
          <a:p>
            <a:r>
              <a:rPr lang="en-US" sz="1600" dirty="0">
                <a:latin typeface="Times New Roman" panose="02020603050405020304" pitchFamily="18" charset="0"/>
                <a:cs typeface="Times New Roman" panose="02020603050405020304" pitchFamily="18" charset="0"/>
              </a:rPr>
              <a:t>  			A company generates large amounts of sales data from customers, products, orders, and different regions. However, the business is unable to clearly understand sales performance, customer behavior, product demand, and profitability due to scattered and unstructured data.</a:t>
            </a:r>
          </a:p>
          <a:p>
            <a:r>
              <a:rPr lang="en-US" sz="1600" dirty="0">
                <a:latin typeface="Times New Roman" panose="02020603050405020304" pitchFamily="18" charset="0"/>
                <a:cs typeface="Times New Roman" panose="02020603050405020304" pitchFamily="18" charset="0"/>
              </a:rPr>
              <a:t>The company wants to analyze sales data to identify revenue trends, top-performing products, customer purchasing patterns, regional performance, and business profitability for better decision-making.</a:t>
            </a:r>
          </a:p>
        </p:txBody>
      </p:sp>
      <p:sp>
        <p:nvSpPr>
          <p:cNvPr id="3" name="TextBox 2">
            <a:extLst>
              <a:ext uri="{FF2B5EF4-FFF2-40B4-BE49-F238E27FC236}">
                <a16:creationId xmlns:a16="http://schemas.microsoft.com/office/drawing/2014/main" id="{481A28D2-C9B6-6310-EF99-75BA9A92E9D8}"/>
              </a:ext>
            </a:extLst>
          </p:cNvPr>
          <p:cNvSpPr txBox="1"/>
          <p:nvPr/>
        </p:nvSpPr>
        <p:spPr>
          <a:xfrm>
            <a:off x="973395" y="3073035"/>
            <a:ext cx="9556955" cy="3123932"/>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Business Objective :-</a:t>
            </a:r>
          </a:p>
          <a:p>
            <a:pPr>
              <a:lnSpc>
                <a:spcPct val="150000"/>
              </a:lnSpc>
            </a:pPr>
            <a:r>
              <a:rPr lang="en-US" sz="1600" dirty="0">
                <a:latin typeface="Times New Roman" panose="02020603050405020304" pitchFamily="18" charset="0"/>
                <a:cs typeface="Times New Roman" panose="02020603050405020304" pitchFamily="18" charset="0"/>
              </a:rPr>
              <a:t>The objective of sales analytics is to:</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Monitor overall sales and revenue performance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Identify top and low performing products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Understand customer buying behavior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Analyze order and purchasing trends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Evaluate regional sales performance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Detect seasonal and time-based demand patterns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 inventory and supply planning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Increase profitability and business growth</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380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ED5639-F379-255F-25B6-DF6AFC8ECD2C}"/>
              </a:ext>
            </a:extLst>
          </p:cNvPr>
          <p:cNvSpPr txBox="1"/>
          <p:nvPr/>
        </p:nvSpPr>
        <p:spPr>
          <a:xfrm>
            <a:off x="1052052" y="648928"/>
            <a:ext cx="9399638" cy="1661993"/>
          </a:xfrm>
          <a:prstGeom prst="rect">
            <a:avLst/>
          </a:prstGeom>
          <a:noFill/>
        </p:spPr>
        <p:txBody>
          <a:bodyPr wrap="square" rtlCol="0">
            <a:spAutoFit/>
          </a:bodyPr>
          <a:lstStyle/>
          <a:p>
            <a:pPr>
              <a:lnSpc>
                <a:spcPct val="150000"/>
              </a:lnSpc>
            </a:pPr>
            <a:r>
              <a:rPr lang="en-IN" b="1" dirty="0">
                <a:latin typeface="Times New Roman" panose="02020603050405020304" pitchFamily="18" charset="0"/>
                <a:cs typeface="Times New Roman" panose="02020603050405020304" pitchFamily="18" charset="0"/>
              </a:rPr>
              <a:t>Dataset Overview </a:t>
            </a:r>
            <a:r>
              <a:rPr lang="en-IN" dirty="0">
                <a:latin typeface="Times New Roman" panose="02020603050405020304" pitchFamily="18" charset="0"/>
                <a:cs typeface="Times New Roman" panose="02020603050405020304" pitchFamily="18" charset="0"/>
              </a:rPr>
              <a:t>:-</a:t>
            </a:r>
          </a:p>
          <a:p>
            <a:pPr>
              <a:lnSpc>
                <a:spcPct val="150000"/>
              </a:lnSpc>
            </a:pPr>
            <a:r>
              <a:rPr lang="en-IN" b="1" dirty="0">
                <a:latin typeface="Times New Roman" panose="02020603050405020304" pitchFamily="18" charset="0"/>
                <a:cs typeface="Times New Roman" panose="02020603050405020304" pitchFamily="18" charset="0"/>
              </a:rPr>
              <a:t>Dataset Source </a:t>
            </a:r>
            <a:r>
              <a:rPr lang="en-IN" dirty="0">
                <a:latin typeface="Times New Roman" panose="02020603050405020304" pitchFamily="18" charset="0"/>
                <a:cs typeface="Times New Roman" panose="02020603050405020304" pitchFamily="18" charset="0"/>
              </a:rPr>
              <a:t>:-</a:t>
            </a:r>
          </a:p>
          <a:p>
            <a:pPr lvl="1"/>
            <a:r>
              <a:rPr lang="en-US" sz="1600" dirty="0">
                <a:latin typeface="Times New Roman" panose="02020603050405020304" pitchFamily="18" charset="0"/>
                <a:cs typeface="Times New Roman" panose="02020603050405020304" pitchFamily="18" charset="0"/>
              </a:rPr>
              <a:t>The dataset used in this project was collected from </a:t>
            </a:r>
            <a:r>
              <a:rPr lang="en-US" sz="1600" dirty="0" err="1">
                <a:latin typeface="Times New Roman" panose="02020603050405020304" pitchFamily="18" charset="0"/>
                <a:cs typeface="Times New Roman" panose="02020603050405020304" pitchFamily="18" charset="0"/>
              </a:rPr>
              <a:t>AccioJob</a:t>
            </a:r>
            <a:r>
              <a:rPr lang="en-US" sz="1600" dirty="0">
                <a:latin typeface="Times New Roman" panose="02020603050405020304" pitchFamily="18" charset="0"/>
                <a:cs typeface="Times New Roman" panose="02020603050405020304" pitchFamily="18" charset="0"/>
              </a:rPr>
              <a:t> for learning and analytical purposes. The dataset contains sales-related information such as customers, products, orders, suppliers, and transactions used to perform sales analytics and business intelligence reporting.</a:t>
            </a:r>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BB8D3BE-FC05-665F-906D-4534BCF487E7}"/>
              </a:ext>
            </a:extLst>
          </p:cNvPr>
          <p:cNvSpPr txBox="1"/>
          <p:nvPr/>
        </p:nvSpPr>
        <p:spPr>
          <a:xfrm>
            <a:off x="983226" y="2438400"/>
            <a:ext cx="4768645" cy="261610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Number of Tables :-</a:t>
            </a:r>
          </a:p>
          <a:p>
            <a:pPr lvl="1"/>
            <a:r>
              <a:rPr lang="en-US" dirty="0">
                <a:latin typeface="Times New Roman" panose="02020603050405020304" pitchFamily="18" charset="0"/>
                <a:cs typeface="Times New Roman" panose="02020603050405020304" pitchFamily="18" charset="0"/>
              </a:rPr>
              <a:t>The dataset contains the following tables:</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Customers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Orders </a:t>
            </a:r>
          </a:p>
          <a:p>
            <a:pPr marL="742950" lvl="1" indent="-28575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Order_Details</a:t>
            </a:r>
            <a:r>
              <a:rPr lang="en-US" sz="16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Products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Categories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Suppliers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Employees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Shippers</a:t>
            </a:r>
          </a:p>
        </p:txBody>
      </p:sp>
    </p:spTree>
    <p:extLst>
      <p:ext uri="{BB962C8B-B14F-4D97-AF65-F5344CB8AC3E}">
        <p14:creationId xmlns:p14="http://schemas.microsoft.com/office/powerpoint/2010/main" val="3851210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E8B74B-F04E-41EF-9195-359C796E02D7}"/>
              </a:ext>
            </a:extLst>
          </p:cNvPr>
          <p:cNvSpPr txBox="1"/>
          <p:nvPr/>
        </p:nvSpPr>
        <p:spPr>
          <a:xfrm>
            <a:off x="668593" y="747253"/>
            <a:ext cx="10510683" cy="6032421"/>
          </a:xfrm>
          <a:prstGeom prst="rect">
            <a:avLst/>
          </a:prstGeom>
          <a:noFill/>
        </p:spPr>
        <p:txBody>
          <a:bodyPr wrap="square" rtlCol="0">
            <a:spAutoFit/>
          </a:bodyPr>
          <a:lstStyle/>
          <a:p>
            <a:pPr marL="342900" indent="-342900">
              <a:buAutoNum type="arabicPeriod"/>
            </a:pPr>
            <a:r>
              <a:rPr lang="en-IN" b="1" dirty="0">
                <a:latin typeface="Times New Roman" panose="02020603050405020304" pitchFamily="18" charset="0"/>
                <a:cs typeface="Times New Roman" panose="02020603050405020304" pitchFamily="18" charset="0"/>
              </a:rPr>
              <a:t>Microsoft Excel</a:t>
            </a:r>
          </a:p>
          <a:p>
            <a:pPr lvl="1"/>
            <a:r>
              <a:rPr lang="en-US" sz="1600" dirty="0">
                <a:latin typeface="Times New Roman" panose="02020603050405020304" pitchFamily="18" charset="0"/>
                <a:cs typeface="Times New Roman" panose="02020603050405020304" pitchFamily="18" charset="0"/>
              </a:rPr>
              <a:t>Excel was used for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Initial data understanding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cleaning and preprocessing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Creating pivot tables and charts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Performing basic analysis and formatting</a:t>
            </a:r>
          </a:p>
          <a:p>
            <a:pPr lvl="1"/>
            <a:endParaRPr lang="en-US" sz="16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SQL</a:t>
            </a:r>
          </a:p>
          <a:p>
            <a:pPr lvl="1"/>
            <a:r>
              <a:rPr lang="en-US" sz="1600" dirty="0">
                <a:latin typeface="Times New Roman" panose="02020603050405020304" pitchFamily="18" charset="0"/>
                <a:cs typeface="Times New Roman" panose="02020603050405020304" pitchFamily="18" charset="0"/>
              </a:rPr>
              <a:t>SQL was used to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Query and analyze sales data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Perform joins between tables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Calculate KPIs and business metrics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Filter and aggregate data</a:t>
            </a:r>
          </a:p>
          <a:p>
            <a:pPr lvl="1"/>
            <a:endParaRPr lang="en-US" sz="16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Power BI</a:t>
            </a:r>
          </a:p>
          <a:p>
            <a:pPr lvl="1"/>
            <a:r>
              <a:rPr lang="en-US" sz="1600" dirty="0">
                <a:latin typeface="Times New Roman" panose="02020603050405020304" pitchFamily="18" charset="0"/>
                <a:cs typeface="Times New Roman" panose="02020603050405020304" pitchFamily="18" charset="0"/>
              </a:rPr>
              <a:t>Power BI was used for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Interactive dashboard creation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visualization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KPI monitoring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Business reporting</a:t>
            </a:r>
          </a:p>
          <a:p>
            <a:pPr lvl="1"/>
            <a:endParaRPr lang="en-US" sz="1600" dirty="0">
              <a:latin typeface="Times New Roman" panose="02020603050405020304" pitchFamily="18" charset="0"/>
              <a:cs typeface="Times New Roman" panose="02020603050405020304" pitchFamily="18" charset="0"/>
            </a:endParaRPr>
          </a:p>
          <a:p>
            <a:pPr lvl="2"/>
            <a:endParaRPr lang="en-US" sz="16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214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E5FCA3-5D26-BE06-9E0B-5FD32ACC9ACE}"/>
              </a:ext>
            </a:extLst>
          </p:cNvPr>
          <p:cNvSpPr txBox="1"/>
          <p:nvPr/>
        </p:nvSpPr>
        <p:spPr>
          <a:xfrm>
            <a:off x="1032387" y="688258"/>
            <a:ext cx="10304207" cy="4955203"/>
          </a:xfrm>
          <a:prstGeom prst="rect">
            <a:avLst/>
          </a:prstGeom>
          <a:noFill/>
        </p:spPr>
        <p:txBody>
          <a:bodyPr wrap="square" rtlCol="0">
            <a:spAutoFit/>
          </a:bodyPr>
          <a:lstStyle/>
          <a:p>
            <a:pPr>
              <a:lnSpc>
                <a:spcPct val="150000"/>
              </a:lnSpc>
            </a:pPr>
            <a:r>
              <a:rPr lang="en-IN" b="1" dirty="0">
                <a:latin typeface="Times New Roman" panose="02020603050405020304" pitchFamily="18" charset="0"/>
                <a:cs typeface="Times New Roman" panose="02020603050405020304" pitchFamily="18" charset="0"/>
              </a:rPr>
              <a:t>Data Cleaning &amp; Preprocessing </a:t>
            </a:r>
            <a:r>
              <a:rPr lang="en-IN" dirty="0">
                <a:latin typeface="Times New Roman" panose="02020603050405020304" pitchFamily="18" charset="0"/>
                <a:cs typeface="Times New Roman" panose="02020603050405020304" pitchFamily="18" charset="0"/>
              </a:rPr>
              <a:t>:-</a:t>
            </a:r>
          </a:p>
          <a:p>
            <a:pPr lvl="1"/>
            <a:r>
              <a:rPr lang="en-US" sz="1600" dirty="0">
                <a:latin typeface="Times New Roman" panose="02020603050405020304" pitchFamily="18" charset="0"/>
                <a:cs typeface="Times New Roman" panose="02020603050405020304" pitchFamily="18" charset="0"/>
              </a:rPr>
              <a:t>Data cleaning and preprocessing were performed to improve data accuracy and consistency. This included handling missing values, removing duplicates, fixing data types, standardizing formats, and creating calculated columns such as </a:t>
            </a:r>
            <a:r>
              <a:rPr lang="en-US" sz="1600" dirty="0" err="1">
                <a:latin typeface="Times New Roman" panose="02020603050405020304" pitchFamily="18" charset="0"/>
                <a:cs typeface="Times New Roman" panose="02020603050405020304" pitchFamily="18" charset="0"/>
              </a:rPr>
              <a:t>Total_Sales</a:t>
            </a:r>
            <a:r>
              <a:rPr lang="en-US" sz="1600" dirty="0">
                <a:latin typeface="Times New Roman" panose="02020603050405020304" pitchFamily="18" charset="0"/>
                <a:cs typeface="Times New Roman" panose="02020603050405020304" pitchFamily="18" charset="0"/>
              </a:rPr>
              <a:t> for better analysis.</a:t>
            </a:r>
          </a:p>
          <a:p>
            <a:pPr lvl="1"/>
            <a:endParaRPr lang="en-IN"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Handling missing values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Removing duplicates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Fixing data types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Standardizing formats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Handling null values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Creating calculated columns </a:t>
            </a:r>
          </a:p>
          <a:p>
            <a:pPr lvl="1"/>
            <a:endParaRPr lang="en-IN"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Example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Converted </a:t>
            </a:r>
            <a:r>
              <a:rPr lang="en-IN" dirty="0" err="1">
                <a:latin typeface="Times New Roman" panose="02020603050405020304" pitchFamily="18" charset="0"/>
                <a:cs typeface="Times New Roman" panose="02020603050405020304" pitchFamily="18" charset="0"/>
              </a:rPr>
              <a:t>Order_Date</a:t>
            </a:r>
            <a:r>
              <a:rPr lang="en-IN" dirty="0">
                <a:latin typeface="Times New Roman" panose="02020603050405020304" pitchFamily="18" charset="0"/>
                <a:cs typeface="Times New Roman" panose="02020603050405020304" pitchFamily="18" charset="0"/>
              </a:rPr>
              <a:t> into date format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Removed duplicate customer records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Created </a:t>
            </a:r>
            <a:r>
              <a:rPr lang="en-IN" dirty="0" err="1">
                <a:latin typeface="Times New Roman" panose="02020603050405020304" pitchFamily="18" charset="0"/>
                <a:cs typeface="Times New Roman" panose="02020603050405020304" pitchFamily="18" charset="0"/>
              </a:rPr>
              <a:t>Total_Sales</a:t>
            </a:r>
            <a:r>
              <a:rPr lang="en-IN" dirty="0">
                <a:latin typeface="Times New Roman" panose="02020603050405020304" pitchFamily="18" charset="0"/>
                <a:cs typeface="Times New Roman" panose="02020603050405020304" pitchFamily="18" charset="0"/>
              </a:rPr>
              <a:t> column = Quantity × </a:t>
            </a:r>
            <a:r>
              <a:rPr lang="en-IN" dirty="0" err="1">
                <a:latin typeface="Times New Roman" panose="02020603050405020304" pitchFamily="18" charset="0"/>
                <a:cs typeface="Times New Roman" panose="02020603050405020304" pitchFamily="18" charset="0"/>
              </a:rPr>
              <a:t>Unit_Price</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8172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D86EE293-632F-4D74-712B-C37D7F1EE1EA}"/>
              </a:ext>
            </a:extLst>
          </p:cNvPr>
          <p:cNvSpPr txBox="1"/>
          <p:nvPr/>
        </p:nvSpPr>
        <p:spPr>
          <a:xfrm>
            <a:off x="891494" y="622350"/>
            <a:ext cx="7561007"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Data Modeling:-</a:t>
            </a:r>
          </a:p>
          <a:p>
            <a:r>
              <a:rPr lang="en-US" dirty="0">
                <a:latin typeface="Times New Roman" panose="02020603050405020304" pitchFamily="18" charset="0"/>
                <a:cs typeface="Times New Roman" panose="02020603050405020304" pitchFamily="18" charset="0"/>
              </a:rPr>
              <a:t>       ER-Diagram:-</a:t>
            </a:r>
            <a:endParaRPr lang="en-IN"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F40CBD62-2A8E-301B-7A99-38302F938168}"/>
              </a:ext>
            </a:extLst>
          </p:cNvPr>
          <p:cNvPicPr>
            <a:picLocks noChangeAspect="1"/>
          </p:cNvPicPr>
          <p:nvPr/>
        </p:nvPicPr>
        <p:blipFill>
          <a:blip r:embed="rId2"/>
          <a:stretch>
            <a:fillRect/>
          </a:stretch>
        </p:blipFill>
        <p:spPr>
          <a:xfrm>
            <a:off x="1557496" y="1421117"/>
            <a:ext cx="8151320" cy="5045645"/>
          </a:xfrm>
          <a:prstGeom prst="rect">
            <a:avLst/>
          </a:prstGeom>
        </p:spPr>
      </p:pic>
    </p:spTree>
    <p:extLst>
      <p:ext uri="{BB962C8B-B14F-4D97-AF65-F5344CB8AC3E}">
        <p14:creationId xmlns:p14="http://schemas.microsoft.com/office/powerpoint/2010/main" val="425084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EB627A-50C1-D001-413E-20D86A679FA4}"/>
              </a:ext>
            </a:extLst>
          </p:cNvPr>
          <p:cNvSpPr txBox="1"/>
          <p:nvPr/>
        </p:nvSpPr>
        <p:spPr>
          <a:xfrm>
            <a:off x="884904" y="363793"/>
            <a:ext cx="9212826" cy="369332"/>
          </a:xfrm>
          <a:prstGeom prst="rect">
            <a:avLst/>
          </a:prstGeom>
          <a:noFill/>
        </p:spPr>
        <p:txBody>
          <a:bodyPr wrap="square" rtlCol="0">
            <a:spAutoFit/>
          </a:bodyPr>
          <a:lstStyle/>
          <a:p>
            <a:r>
              <a:rPr lang="en-IN" b="1" dirty="0"/>
              <a:t>Dashboard Overview :-</a:t>
            </a:r>
          </a:p>
        </p:txBody>
      </p:sp>
      <p:pic>
        <p:nvPicPr>
          <p:cNvPr id="7" name="Picture 6">
            <a:extLst>
              <a:ext uri="{FF2B5EF4-FFF2-40B4-BE49-F238E27FC236}">
                <a16:creationId xmlns:a16="http://schemas.microsoft.com/office/drawing/2014/main" id="{970B7051-3C34-EEB7-4526-AA6198D0FF4B}"/>
              </a:ext>
            </a:extLst>
          </p:cNvPr>
          <p:cNvPicPr>
            <a:picLocks noChangeAspect="1"/>
          </p:cNvPicPr>
          <p:nvPr/>
        </p:nvPicPr>
        <p:blipFill>
          <a:blip r:embed="rId2"/>
          <a:stretch>
            <a:fillRect/>
          </a:stretch>
        </p:blipFill>
        <p:spPr>
          <a:xfrm>
            <a:off x="1344518" y="1014210"/>
            <a:ext cx="9502964" cy="5380186"/>
          </a:xfrm>
          <a:prstGeom prst="rect">
            <a:avLst/>
          </a:prstGeom>
        </p:spPr>
      </p:pic>
    </p:spTree>
    <p:extLst>
      <p:ext uri="{BB962C8B-B14F-4D97-AF65-F5344CB8AC3E}">
        <p14:creationId xmlns:p14="http://schemas.microsoft.com/office/powerpoint/2010/main" val="2594823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9F4C9F1-C913-3ABC-B3E1-C10CFDEF38C0}"/>
              </a:ext>
            </a:extLst>
          </p:cNvPr>
          <p:cNvPicPr>
            <a:picLocks noChangeAspect="1"/>
          </p:cNvPicPr>
          <p:nvPr/>
        </p:nvPicPr>
        <p:blipFill>
          <a:blip r:embed="rId2"/>
          <a:stretch>
            <a:fillRect/>
          </a:stretch>
        </p:blipFill>
        <p:spPr>
          <a:xfrm>
            <a:off x="683451" y="853942"/>
            <a:ext cx="10702304" cy="5758252"/>
          </a:xfrm>
          <a:prstGeom prst="rect">
            <a:avLst/>
          </a:prstGeom>
        </p:spPr>
      </p:pic>
      <p:sp>
        <p:nvSpPr>
          <p:cNvPr id="7" name="TextBox 6">
            <a:extLst>
              <a:ext uri="{FF2B5EF4-FFF2-40B4-BE49-F238E27FC236}">
                <a16:creationId xmlns:a16="http://schemas.microsoft.com/office/drawing/2014/main" id="{12BC0AA8-21EC-688F-0595-04AB05B66F66}"/>
              </a:ext>
            </a:extLst>
          </p:cNvPr>
          <p:cNvSpPr txBox="1"/>
          <p:nvPr/>
        </p:nvSpPr>
        <p:spPr>
          <a:xfrm>
            <a:off x="1002890" y="412955"/>
            <a:ext cx="7796981" cy="369332"/>
          </a:xfrm>
          <a:prstGeom prst="rect">
            <a:avLst/>
          </a:prstGeom>
          <a:noFill/>
        </p:spPr>
        <p:txBody>
          <a:bodyPr wrap="square" rtlCol="0">
            <a:spAutoFit/>
          </a:bodyPr>
          <a:lstStyle/>
          <a:p>
            <a:r>
              <a:rPr lang="en-IN" b="1" dirty="0"/>
              <a:t>Customers Metrics :-</a:t>
            </a:r>
          </a:p>
        </p:txBody>
      </p:sp>
    </p:spTree>
    <p:extLst>
      <p:ext uri="{BB962C8B-B14F-4D97-AF65-F5344CB8AC3E}">
        <p14:creationId xmlns:p14="http://schemas.microsoft.com/office/powerpoint/2010/main" val="3273045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14A1EB-3C77-3735-62AA-CE1162084B26}"/>
              </a:ext>
            </a:extLst>
          </p:cNvPr>
          <p:cNvPicPr>
            <a:picLocks noChangeAspect="1"/>
          </p:cNvPicPr>
          <p:nvPr/>
        </p:nvPicPr>
        <p:blipFill>
          <a:blip r:embed="rId2"/>
          <a:stretch>
            <a:fillRect/>
          </a:stretch>
        </p:blipFill>
        <p:spPr>
          <a:xfrm>
            <a:off x="987030" y="1085222"/>
            <a:ext cx="9673344" cy="5301737"/>
          </a:xfrm>
          <a:prstGeom prst="rect">
            <a:avLst/>
          </a:prstGeom>
        </p:spPr>
      </p:pic>
      <p:sp>
        <p:nvSpPr>
          <p:cNvPr id="8" name="TextBox 7">
            <a:extLst>
              <a:ext uri="{FF2B5EF4-FFF2-40B4-BE49-F238E27FC236}">
                <a16:creationId xmlns:a16="http://schemas.microsoft.com/office/drawing/2014/main" id="{3D0DB38D-E203-0063-9043-A4BF1D54F71A}"/>
              </a:ext>
            </a:extLst>
          </p:cNvPr>
          <p:cNvSpPr txBox="1"/>
          <p:nvPr/>
        </p:nvSpPr>
        <p:spPr>
          <a:xfrm>
            <a:off x="1219200" y="412955"/>
            <a:ext cx="9441174" cy="369332"/>
          </a:xfrm>
          <a:prstGeom prst="rect">
            <a:avLst/>
          </a:prstGeom>
          <a:noFill/>
        </p:spPr>
        <p:txBody>
          <a:bodyPr wrap="square" rtlCol="0">
            <a:spAutoFit/>
          </a:bodyPr>
          <a:lstStyle/>
          <a:p>
            <a:r>
              <a:rPr lang="en-IN" b="1" dirty="0"/>
              <a:t>Employee Insights:-</a:t>
            </a:r>
          </a:p>
        </p:txBody>
      </p:sp>
    </p:spTree>
    <p:extLst>
      <p:ext uri="{BB962C8B-B14F-4D97-AF65-F5344CB8AC3E}">
        <p14:creationId xmlns:p14="http://schemas.microsoft.com/office/powerpoint/2010/main" val="2966698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6B0730-CB34-C41B-03C4-5CDC8625D012}"/>
              </a:ext>
            </a:extLst>
          </p:cNvPr>
          <p:cNvSpPr txBox="1"/>
          <p:nvPr/>
        </p:nvSpPr>
        <p:spPr>
          <a:xfrm>
            <a:off x="1081549" y="606616"/>
            <a:ext cx="8099322" cy="5478423"/>
          </a:xfrm>
          <a:prstGeom prst="rect">
            <a:avLst/>
          </a:prstGeom>
          <a:noFill/>
        </p:spPr>
        <p:txBody>
          <a:bodyPr wrap="square">
            <a:spAutoFit/>
          </a:bodyPr>
          <a:lstStyle/>
          <a:p>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Impact and Applications:-</a:t>
            </a:r>
            <a:r>
              <a:rPr lang="en-IN" sz="36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3600" b="1" kern="100" dirty="0">
              <a:latin typeface="Times New Roman" panose="02020603050405020304" pitchFamily="18" charset="0"/>
              <a:ea typeface="Calibri" panose="020F0502020204030204" pitchFamily="34"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This project demonstrates the use of data analysis tools to extract meaningful insights from sales data. Sales analytics helps businesses understand revenue trends, customer behavior, product performance, regional sales, and profitability. By analyzing sales patterns and business performance, organizations can make data-driven decisions to improve customer satisfaction, optimize inventory, increase operational efficiency, and maximize revenue and profit. Sales analytics is widely used in customer analysis, demand forecasting, inventory management, business reporting, and strategic decision-making.</a:t>
            </a:r>
          </a:p>
          <a:p>
            <a:pPr lvl="1"/>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Revenue Optimization :-</a:t>
            </a:r>
          </a:p>
          <a:p>
            <a:pPr lvl="1"/>
            <a:r>
              <a:rPr lang="en-US" sz="1600" dirty="0">
                <a:latin typeface="Times New Roman" panose="02020603050405020304" pitchFamily="18" charset="0"/>
                <a:cs typeface="Times New Roman" panose="02020603050405020304" pitchFamily="18" charset="0"/>
              </a:rPr>
              <a:t>Sales analytics helps businesses identify high-performing products, profitable customer segments, and strong sales regions. This enables companies to focus on strategies that maximize revenue and profitability.</a:t>
            </a:r>
          </a:p>
          <a:p>
            <a:pPr lvl="1"/>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Product Performance Analysis :-</a:t>
            </a:r>
          </a:p>
          <a:p>
            <a:pPr lvl="1"/>
            <a:r>
              <a:rPr lang="en-US" sz="1600" dirty="0">
                <a:latin typeface="Times New Roman" panose="02020603050405020304" pitchFamily="18" charset="0"/>
                <a:cs typeface="Times New Roman" panose="02020603050405020304" pitchFamily="18" charset="0"/>
              </a:rPr>
              <a:t>By analyzing product sales and demand trends, companies can identify top-selling and low-performing products. This helps improve product planning, pricing strategies, and inventory management</a:t>
            </a:r>
            <a:r>
              <a:rPr lang="en-US" dirty="0">
                <a:latin typeface="Times New Roman" panose="02020603050405020304" pitchFamily="18" charset="0"/>
                <a:cs typeface="Times New Roman" panose="02020603050405020304" pitchFamily="18" charset="0"/>
              </a:rPr>
              <a:t>.</a:t>
            </a:r>
          </a:p>
          <a:p>
            <a:pPr lvl="1"/>
            <a:endParaRPr lang="en-US" sz="1600" dirty="0">
              <a:latin typeface="Times New Roman" panose="02020603050405020304" pitchFamily="18" charset="0"/>
              <a:cs typeface="Times New Roman" panose="02020603050405020304" pitchFamily="18" charset="0"/>
            </a:endParaRPr>
          </a:p>
          <a:p>
            <a:pPr lvl="2"/>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4774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F5B846-0990-C7EE-F8AA-9AD0C38ADF34}"/>
              </a:ext>
            </a:extLst>
          </p:cNvPr>
          <p:cNvSpPr txBox="1"/>
          <p:nvPr/>
        </p:nvSpPr>
        <p:spPr>
          <a:xfrm>
            <a:off x="1081548" y="1021696"/>
            <a:ext cx="7561007" cy="4221284"/>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Customer Analysis :</a:t>
            </a:r>
          </a:p>
          <a:p>
            <a:pPr lvl="1"/>
            <a:r>
              <a:rPr lang="en-US" dirty="0">
                <a:latin typeface="Times New Roman" panose="02020603050405020304" pitchFamily="18" charset="0"/>
                <a:cs typeface="Times New Roman" panose="02020603050405020304" pitchFamily="18" charset="0"/>
              </a:rPr>
              <a:t>Sales analytics helps organizations understand customer purchasing behavior, preferences, and buying patterns. Businesses can use these insights for customer segmentation, personalized marketing, and customer retention strategies</a:t>
            </a:r>
            <a:r>
              <a:rPr lang="en-US" dirty="0"/>
              <a:t>.</a:t>
            </a:r>
          </a:p>
          <a:p>
            <a:pPr lvl="1"/>
            <a:endParaRPr lang="en-US" dirty="0"/>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Inventory and Supply Chain Management</a:t>
            </a:r>
          </a:p>
          <a:p>
            <a:pPr lvl="1"/>
            <a:r>
              <a:rPr lang="en-US" dirty="0">
                <a:latin typeface="Times New Roman" panose="02020603050405020304" pitchFamily="18" charset="0"/>
                <a:cs typeface="Times New Roman" panose="02020603050405020304" pitchFamily="18" charset="0"/>
              </a:rPr>
              <a:t>Sales analytics supports better inventory planning by predicting product demand and identifying stock shortages or excess inventory. This improves supply chain efficiency and reduces operational costs.</a:t>
            </a:r>
          </a:p>
          <a:p>
            <a:pPr lvl="1"/>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Regional and Market Analysis</a:t>
            </a:r>
          </a:p>
          <a:p>
            <a:pPr lvl="1"/>
            <a:r>
              <a:rPr lang="en-US" dirty="0">
                <a:latin typeface="Times New Roman" panose="02020603050405020304" pitchFamily="18" charset="0"/>
                <a:cs typeface="Times New Roman" panose="02020603050405020304" pitchFamily="18" charset="0"/>
              </a:rPr>
              <a:t>Businesses can analyze sales performance across different cities, regions, or markets to identify high-growth areas and expansion opportunities.</a:t>
            </a:r>
          </a:p>
          <a:p>
            <a:pPr marL="457200">
              <a:lnSpc>
                <a:spcPct val="107000"/>
              </a:lnSpc>
              <a:spcAft>
                <a:spcPts val="800"/>
              </a:spcAf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26137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8318CB-1EB6-5C6D-2CB3-42AE65A19038}"/>
              </a:ext>
            </a:extLst>
          </p:cNvPr>
          <p:cNvSpPr txBox="1"/>
          <p:nvPr/>
        </p:nvSpPr>
        <p:spPr>
          <a:xfrm>
            <a:off x="1238865" y="1466241"/>
            <a:ext cx="6853083" cy="3970318"/>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Time-Based Trend Analysis</a:t>
            </a:r>
          </a:p>
          <a:p>
            <a:pPr lvl="1"/>
            <a:r>
              <a:rPr lang="en-US" dirty="0">
                <a:latin typeface="Times New Roman" panose="02020603050405020304" pitchFamily="18" charset="0"/>
                <a:cs typeface="Times New Roman" panose="02020603050405020304" pitchFamily="18" charset="0"/>
              </a:rPr>
              <a:t>Sales data analysis helps organizations understand seasonal trends, festival demand, and peak sales periods. This supports better forecasting and business planning.</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Business Decision-Making</a:t>
            </a:r>
          </a:p>
          <a:p>
            <a:pPr lvl="1"/>
            <a:r>
              <a:rPr lang="en-US" dirty="0">
                <a:latin typeface="Times New Roman" panose="02020603050405020304" pitchFamily="18" charset="0"/>
                <a:cs typeface="Times New Roman" panose="02020603050405020304" pitchFamily="18" charset="0"/>
              </a:rPr>
              <a:t>Interactive dashboards and KPI monitoring enable management to make faster and more accurate business decisions based on real-time insights and performance metrics.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Profitability Improvement</a:t>
            </a:r>
          </a:p>
          <a:p>
            <a:pPr lvl="1"/>
            <a:r>
              <a:rPr lang="en-US" dirty="0">
                <a:latin typeface="Times New Roman" panose="02020603050405020304" pitchFamily="18" charset="0"/>
                <a:cs typeface="Times New Roman" panose="02020603050405020304" pitchFamily="18" charset="0"/>
              </a:rPr>
              <a:t>Sales analytics helps identify loss-making products, inefficient operations, and low-performing regions, enabling businesses to improve overall profitability and operational efficiency.</a:t>
            </a:r>
          </a:p>
        </p:txBody>
      </p:sp>
    </p:spTree>
    <p:extLst>
      <p:ext uri="{BB962C8B-B14F-4D97-AF65-F5344CB8AC3E}">
        <p14:creationId xmlns:p14="http://schemas.microsoft.com/office/powerpoint/2010/main" val="2262992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5D7C8A-BA2B-1D29-4A7F-9874CF9CC9BF}"/>
              </a:ext>
            </a:extLst>
          </p:cNvPr>
          <p:cNvSpPr txBox="1"/>
          <p:nvPr/>
        </p:nvSpPr>
        <p:spPr>
          <a:xfrm>
            <a:off x="825911" y="926045"/>
            <a:ext cx="8482780" cy="4524315"/>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Future Scope :-</a:t>
            </a:r>
          </a:p>
          <a:p>
            <a:pPr lvl="1"/>
            <a:r>
              <a:rPr lang="en-US" dirty="0">
                <a:latin typeface="Times New Roman" panose="02020603050405020304" pitchFamily="18" charset="0"/>
                <a:cs typeface="Times New Roman" panose="02020603050405020304" pitchFamily="18" charset="0"/>
              </a:rPr>
              <a:t>The future scope of sales analytics is vast and continuously growing due to advancements in technology and the increasing importance of data-driven business decisions. Modern organizations are increasingly using advanced analytics techniques to improve sales performance, customer experience, and business profitability. Here are some key areas where sales analytics is expected to evolve:</a:t>
            </a:r>
          </a:p>
          <a:p>
            <a:pPr lvl="1"/>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Artificial Intelligence and Machine Learning</a:t>
            </a:r>
          </a:p>
          <a:p>
            <a:pPr lvl="1"/>
            <a:r>
              <a:rPr lang="en-US" dirty="0">
                <a:latin typeface="Times New Roman" panose="02020603050405020304" pitchFamily="18" charset="0"/>
                <a:cs typeface="Times New Roman" panose="02020603050405020304" pitchFamily="18" charset="0"/>
              </a:rPr>
              <a:t>AI and machine learning can help businesses predict customer behavior, forecast sales trends, recommend products, and automate decision-making processes. These technologies improve the accuracy of sales forecasting and customer targeting.</a:t>
            </a:r>
          </a:p>
          <a:p>
            <a:pPr lvl="1"/>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Big Data and Cloud Computing</a:t>
            </a:r>
          </a:p>
          <a:p>
            <a:pPr lvl="1"/>
            <a:r>
              <a:rPr lang="en-US" dirty="0">
                <a:latin typeface="Times New Roman" panose="02020603050405020304" pitchFamily="18" charset="0"/>
                <a:cs typeface="Times New Roman" panose="02020603050405020304" pitchFamily="18" charset="0"/>
              </a:rPr>
              <a:t>The integration of big data and cloud computing enables organizations to process and analyze large volumes of sales data efficiently. This supports real-time analytics, scalable reporting systems, and faster business insights.</a:t>
            </a:r>
          </a:p>
        </p:txBody>
      </p:sp>
    </p:spTree>
    <p:extLst>
      <p:ext uri="{BB962C8B-B14F-4D97-AF65-F5344CB8AC3E}">
        <p14:creationId xmlns:p14="http://schemas.microsoft.com/office/powerpoint/2010/main" val="2529538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8F0A50-F5DD-7635-6432-56C6B972F0BD}"/>
              </a:ext>
            </a:extLst>
          </p:cNvPr>
          <p:cNvSpPr txBox="1"/>
          <p:nvPr/>
        </p:nvSpPr>
        <p:spPr>
          <a:xfrm>
            <a:off x="540775" y="498128"/>
            <a:ext cx="9053051" cy="5631735"/>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Customer Behavior Analytics</a:t>
            </a:r>
          </a:p>
          <a:p>
            <a:pPr lvl="1"/>
            <a:r>
              <a:rPr lang="en-US" dirty="0">
                <a:latin typeface="Times New Roman" panose="02020603050405020304" pitchFamily="18" charset="0"/>
                <a:cs typeface="Times New Roman" panose="02020603050405020304" pitchFamily="18" charset="0"/>
              </a:rPr>
              <a:t>Future sales analytics systems will focus more on understanding customer preferences, purchasing patterns, and personalization strategies to improve customer satisfaction and retention.</a:t>
            </a:r>
          </a:p>
          <a:p>
            <a:pPr lvl="1"/>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Real-Time Dashboards and Automation</a:t>
            </a:r>
          </a:p>
          <a:p>
            <a:pPr lvl="1"/>
            <a:r>
              <a:rPr lang="en-US" dirty="0">
                <a:latin typeface="Times New Roman" panose="02020603050405020304" pitchFamily="18" charset="0"/>
                <a:cs typeface="Times New Roman" panose="02020603050405020304" pitchFamily="18" charset="0"/>
              </a:rPr>
              <a:t>Businesses are increasingly adopting real-time dashboards and automated reporting tools to monitor KPIs, sales performance, and inventory status instantly for faster decision-making.</a:t>
            </a:r>
          </a:p>
          <a:p>
            <a:pPr lvl="1"/>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Predictive and Prescriptive Analytics</a:t>
            </a:r>
          </a:p>
          <a:p>
            <a:pPr lvl="1"/>
            <a:r>
              <a:rPr lang="en-US" dirty="0">
                <a:latin typeface="Times New Roman" panose="02020603050405020304" pitchFamily="18" charset="0"/>
                <a:cs typeface="Times New Roman" panose="02020603050405020304" pitchFamily="18" charset="0"/>
              </a:rPr>
              <a:t>Future systems will not only analyze past sales data but also predict future trends and recommend actions to improve revenue, inventory management, and marketing strategies.</a:t>
            </a:r>
          </a:p>
          <a:p>
            <a:pPr lvl="1"/>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Integration with IoT and Digital Platforms</a:t>
            </a:r>
          </a:p>
          <a:p>
            <a:pPr lvl="1"/>
            <a:r>
              <a:rPr lang="en-US" dirty="0">
                <a:latin typeface="Times New Roman" panose="02020603050405020304" pitchFamily="18" charset="0"/>
                <a:cs typeface="Times New Roman" panose="02020603050405020304" pitchFamily="18" charset="0"/>
              </a:rPr>
              <a:t>Sales analytics can be integrated with e-commerce platforms, mobile applications, and IoT-based systems to collect real-time customer and transaction data for more accurate business analysis and forecasting.</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457200">
              <a:lnSpc>
                <a:spcPct val="107000"/>
              </a:lnSpc>
              <a:spcAft>
                <a:spcPts val="800"/>
              </a:spcAf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17712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F6FE05-4DB4-C8B3-E409-248312E36D80}"/>
              </a:ext>
            </a:extLst>
          </p:cNvPr>
          <p:cNvSpPr txBox="1"/>
          <p:nvPr/>
        </p:nvSpPr>
        <p:spPr>
          <a:xfrm>
            <a:off x="953730" y="1532092"/>
            <a:ext cx="7600336" cy="369331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Conclusion :-</a:t>
            </a:r>
          </a:p>
          <a:p>
            <a:pPr lvl="1"/>
            <a:r>
              <a:rPr lang="en-US" dirty="0">
                <a:latin typeface="Times New Roman" panose="02020603050405020304" pitchFamily="18" charset="0"/>
                <a:cs typeface="Times New Roman" panose="02020603050405020304" pitchFamily="18" charset="0"/>
              </a:rPr>
              <a:t>In this sales analytics project, I analyzed sales data collected from </a:t>
            </a:r>
            <a:r>
              <a:rPr lang="en-US" dirty="0" err="1">
                <a:latin typeface="Times New Roman" panose="02020603050405020304" pitchFamily="18" charset="0"/>
                <a:cs typeface="Times New Roman" panose="02020603050405020304" pitchFamily="18" charset="0"/>
              </a:rPr>
              <a:t>AccioJob</a:t>
            </a:r>
            <a:r>
              <a:rPr lang="en-US" dirty="0">
                <a:latin typeface="Times New Roman" panose="02020603050405020304" pitchFamily="18" charset="0"/>
                <a:cs typeface="Times New Roman" panose="02020603050405020304" pitchFamily="18" charset="0"/>
              </a:rPr>
              <a:t> to understand business performance, customer behavior, product demand, and revenue trends. The analysis revealed important insights related to sales growth, top-performing products, customer purchasing patterns, regional performance, and profitability. Notably, I identified high-revenue product categories, valuable customer segments, and time-based sales trends that significantly impact overall business performance. These findings can help organizations improve decision-making, optimize inventory management, enhance customer targeting strategies, and increase profitability. Based on the analysis, I recommend businesses continuously monitor sales KPIs and use data-driven strategies to improve operational efficiency and business growth.</a:t>
            </a:r>
          </a:p>
        </p:txBody>
      </p:sp>
    </p:spTree>
    <p:extLst>
      <p:ext uri="{BB962C8B-B14F-4D97-AF65-F5344CB8AC3E}">
        <p14:creationId xmlns:p14="http://schemas.microsoft.com/office/powerpoint/2010/main" val="3257856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8D725A-E1AC-F9A3-D834-9C962DEB6017}"/>
              </a:ext>
            </a:extLst>
          </p:cNvPr>
          <p:cNvSpPr txBox="1"/>
          <p:nvPr/>
        </p:nvSpPr>
        <p:spPr>
          <a:xfrm>
            <a:off x="3342968" y="2900516"/>
            <a:ext cx="4434348" cy="1015663"/>
          </a:xfrm>
          <a:prstGeom prst="rect">
            <a:avLst/>
          </a:prstGeom>
          <a:noFill/>
        </p:spPr>
        <p:txBody>
          <a:bodyPr wrap="square" rtlCol="0">
            <a:spAutoFit/>
          </a:bodyPr>
          <a:lstStyle/>
          <a:p>
            <a:r>
              <a:rPr lang="en-IN" sz="6000" b="1" dirty="0"/>
              <a:t>Thank you</a:t>
            </a:r>
          </a:p>
        </p:txBody>
      </p:sp>
    </p:spTree>
    <p:extLst>
      <p:ext uri="{BB962C8B-B14F-4D97-AF65-F5344CB8AC3E}">
        <p14:creationId xmlns:p14="http://schemas.microsoft.com/office/powerpoint/2010/main" val="389531286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318</TotalTime>
  <Words>1282</Words>
  <Application>Microsoft Office PowerPoint</Application>
  <PresentationFormat>Widescreen</PresentationFormat>
  <Paragraphs>120</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Symbol</vt:lpstr>
      <vt:lpstr>Times New Roman</vt:lpstr>
      <vt:lpstr>Trebuchet MS</vt:lpstr>
      <vt:lpstr>Wingdings 3</vt:lpstr>
      <vt:lpstr>Facet</vt:lpstr>
      <vt:lpstr>Sales Analytics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Rupali Gawate</dc:creator>
  <cp:lastModifiedBy>Sagar Golhar</cp:lastModifiedBy>
  <cp:revision>5</cp:revision>
  <dcterms:created xsi:type="dcterms:W3CDTF">2024-09-16T10:08:09Z</dcterms:created>
  <dcterms:modified xsi:type="dcterms:W3CDTF">2026-05-12T05:11:10Z</dcterms:modified>
</cp:coreProperties>
</file>